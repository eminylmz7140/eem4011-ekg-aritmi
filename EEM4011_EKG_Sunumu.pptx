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fb1a72bcde4d6c" /><Relationship Type="http://schemas.openxmlformats.org/officeDocument/2006/relationships/extended-properties" Target="/docProps/app.xml" Id="Ra16ddea68bcf4d20" /><Relationship Type="http://schemas.openxmlformats.org/officeDocument/2006/relationships/officeDocument" Target="/ppt/presentation.xml" Id="R36c5b32ad4d542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dfc629d0ba40f1"/>
  </p:sldMasterIdLst>
  <p:notesMasterIdLst>
    <p:notesMasterId xmlns:r="http://schemas.openxmlformats.org/officeDocument/2006/relationships" r:id="R812bc45e5965461a"/>
  </p:notesMasterIdLst>
  <p:sldIdLst>
    <p:sldId xmlns:r="http://schemas.openxmlformats.org/officeDocument/2006/relationships" id="256" r:id="Rd2ac88ede51f4763"/>
    <p:sldId xmlns:r="http://schemas.openxmlformats.org/officeDocument/2006/relationships" id="257" r:id="R19db37f574f44460"/>
    <p:sldId xmlns:r="http://schemas.openxmlformats.org/officeDocument/2006/relationships" id="258" r:id="R037f774342a4499b"/>
    <p:sldId xmlns:r="http://schemas.openxmlformats.org/officeDocument/2006/relationships" id="259" r:id="Rc73cd33d57004e89"/>
    <p:sldId xmlns:r="http://schemas.openxmlformats.org/officeDocument/2006/relationships" id="260" r:id="Rf64921d199cf4bad"/>
    <p:sldId xmlns:r="http://schemas.openxmlformats.org/officeDocument/2006/relationships" id="261" r:id="Rfd7d9b1131da4e81"/>
    <p:sldId xmlns:r="http://schemas.openxmlformats.org/officeDocument/2006/relationships" id="262" r:id="R075fa259e30c46bb"/>
    <p:sldId xmlns:r="http://schemas.openxmlformats.org/officeDocument/2006/relationships" id="263" r:id="Rd6904b306db54f99"/>
    <p:sldId xmlns:r="http://schemas.openxmlformats.org/officeDocument/2006/relationships" id="264" r:id="R95641f74da834054"/>
    <p:sldId xmlns:r="http://schemas.openxmlformats.org/officeDocument/2006/relationships" id="265" r:id="Rb3206525be6e4562"/>
    <p:sldId xmlns:r="http://schemas.openxmlformats.org/officeDocument/2006/relationships" id="266" r:id="R5d3b10992c074f43"/>
    <p:sldId xmlns:r="http://schemas.openxmlformats.org/officeDocument/2006/relationships" id="267" r:id="Rb43d8c884e4743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e223d3686d4db9" /><Relationship Type="http://schemas.openxmlformats.org/officeDocument/2006/relationships/slideMaster" Target="/ppt/slideMasters/slideMaster1.xml" Id="R0bdfc629d0ba40f1" /><Relationship Type="http://schemas.openxmlformats.org/officeDocument/2006/relationships/notesMaster" Target="/ppt/notesMasters/notesMaster1.xml" Id="R812bc45e5965461a" /><Relationship Type="http://schemas.openxmlformats.org/officeDocument/2006/relationships/presProps" Target="/ppt/presProps.xml" Id="R82c511e1459d4ffd" /><Relationship Type="http://schemas.openxmlformats.org/officeDocument/2006/relationships/tableStyles" Target="/ppt/tableStyles.xml" Id="R10dd9bc2b059469c" /><Relationship Type="http://schemas.openxmlformats.org/officeDocument/2006/relationships/slide" Target="/ppt/slides/slide1.xml" Id="Rd2ac88ede51f4763" /><Relationship Type="http://schemas.openxmlformats.org/officeDocument/2006/relationships/slide" Target="/ppt/slides/slide2.xml" Id="R19db37f574f44460" /><Relationship Type="http://schemas.openxmlformats.org/officeDocument/2006/relationships/slide" Target="/ppt/slides/slide3.xml" Id="R037f774342a4499b" /><Relationship Type="http://schemas.openxmlformats.org/officeDocument/2006/relationships/slide" Target="/ppt/slides/slide4.xml" Id="Rc73cd33d57004e89" /><Relationship Type="http://schemas.openxmlformats.org/officeDocument/2006/relationships/slide" Target="/ppt/slides/slide5.xml" Id="Rf64921d199cf4bad" /><Relationship Type="http://schemas.openxmlformats.org/officeDocument/2006/relationships/slide" Target="/ppt/slides/slide6.xml" Id="Rfd7d9b1131da4e81" /><Relationship Type="http://schemas.openxmlformats.org/officeDocument/2006/relationships/slide" Target="/ppt/slides/slide7.xml" Id="R075fa259e30c46bb" /><Relationship Type="http://schemas.openxmlformats.org/officeDocument/2006/relationships/slide" Target="/ppt/slides/slide8.xml" Id="Rd6904b306db54f99" /><Relationship Type="http://schemas.openxmlformats.org/officeDocument/2006/relationships/slide" Target="/ppt/slides/slide9.xml" Id="R95641f74da834054" /><Relationship Type="http://schemas.openxmlformats.org/officeDocument/2006/relationships/slide" Target="/ppt/slides/slide10.xml" Id="Rb3206525be6e4562" /><Relationship Type="http://schemas.openxmlformats.org/officeDocument/2006/relationships/slide" Target="/ppt/slides/slide11.xml" Id="R5d3b10992c074f43" /><Relationship Type="http://schemas.openxmlformats.org/officeDocument/2006/relationships/slide" Target="/ppt/slides/slide12.xml" Id="Rb43d8c884e4743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7946e3efab45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dfe3d03f2b4a4f" /><Relationship Type="http://schemas.openxmlformats.org/officeDocument/2006/relationships/notesMaster" Target="/ppt/notesMasters/notesMaster1.xml" Id="R5f6fd17dad1649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e66296dca34a46" /><Relationship Type="http://schemas.openxmlformats.org/officeDocument/2006/relationships/notesMaster" Target="/ppt/notesMasters/notesMaster1.xml" Id="Rc2d737a7e27c48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15d12f443b425d" /><Relationship Type="http://schemas.openxmlformats.org/officeDocument/2006/relationships/notesMaster" Target="/ppt/notesMasters/notesMaster1.xml" Id="Rb710c8e9557f44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4d018726714d44" /><Relationship Type="http://schemas.openxmlformats.org/officeDocument/2006/relationships/notesMaster" Target="/ppt/notesMasters/notesMaster1.xml" Id="Re5044cd24d8349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4a3c88b1c44bec" /><Relationship Type="http://schemas.openxmlformats.org/officeDocument/2006/relationships/notesMaster" Target="/ppt/notesMasters/notesMaster1.xml" Id="R5b9784e31ace42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185e1efe7f4d29" /><Relationship Type="http://schemas.openxmlformats.org/officeDocument/2006/relationships/notesMaster" Target="/ppt/notesMasters/notesMaster1.xml" Id="R66cda88d8f5f42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64a65ce1e84183" /><Relationship Type="http://schemas.openxmlformats.org/officeDocument/2006/relationships/notesMaster" Target="/ppt/notesMasters/notesMaster1.xml" Id="Re1f2edf8e3b14e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5ed8a4bd6d4904" /><Relationship Type="http://schemas.openxmlformats.org/officeDocument/2006/relationships/notesMaster" Target="/ppt/notesMasters/notesMaster1.xml" Id="R9e5847a4c4124d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b9aa11f7894972" /><Relationship Type="http://schemas.openxmlformats.org/officeDocument/2006/relationships/notesMaster" Target="/ppt/notesMasters/notesMaster1.xml" Id="Rc9f8661da31f44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87dae285a54482" /><Relationship Type="http://schemas.openxmlformats.org/officeDocument/2006/relationships/notesMaster" Target="/ppt/notesMasters/notesMaster1.xml" Id="R0080455a19454f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e34ddc64244750" /><Relationship Type="http://schemas.openxmlformats.org/officeDocument/2006/relationships/notesMaster" Target="/ppt/notesMasters/notesMaster1.xml" Id="R38c9dd1195b54b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b8166086e145c5" /><Relationship Type="http://schemas.openxmlformats.org/officeDocument/2006/relationships/notesMaster" Target="/ppt/notesMasters/notesMaster1.xml" Id="Rf99371e95b8b43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 kaynağı: https://physionet.org/content/mitdb/1.0.0/</a:t>
            </a:r>
          </a:p>
          <a:p xmlns:a="http://schemas.openxmlformats.org/drawingml/2006/main">
            <a:r>
              <a:t>Deney sonuçları: biomed_project/artifacts/comparison_improved.json. Kod: 07_improve_model.py ve 08_verify_improvement.py. Deney tarihi: 12 Ekim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 kaynağı: https://physionet.org/content/mitdb/1.0.0/</a:t>
            </a:r>
          </a:p>
          <a:p xmlns:a="http://schemas.openxmlformats.org/drawingml/2006/main">
            <a:r>
              <a:t>Deney sonuçları: biomed_project/artifacts/comparison_improved.json. Kod: 07_improve_model.py ve 08_verify_improvement.py. Deney tarihi: 12 Ekim 2026.</a:t>
            </a:r>
          </a:p>
          <a:p xmlns:a="http://schemas.openxmlformats.org/drawingml/2006/main">
            <a:r>
              <a:t>Bu çalışmanın literatürde ilk olduğuna veya doğrulanmış bir araştırma açığını kapattığına dair iddia yoktur. Başlangıçtaki derin öğrenme karşılaştırması bu uygulamanın kapsamına dahil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 kaynağı: https://physionet.org/content/mitdb/1.0.0/</a:t>
            </a:r>
          </a:p>
          <a:p xmlns:a="http://schemas.openxmlformats.org/drawingml/2006/main">
            <a:r>
              <a:t>Deney sonuçları: biomed_project/artifacts/comparison_improved.json. Kod: 07_improve_model.py ve 08_verify_improvement.py. Deney tarihi: 12 Ekim 2026.</a:t>
            </a:r>
          </a:p>
          <a:p xmlns:a="http://schemas.openxmlformats.org/drawingml/2006/main">
            <a:r>
              <a:t>109.494 eşlenmiş atımdan tam pencere içermeyen 26 atım dışarıda kaldı. Nihai eğitim için sınıf başına en çok 5.000 örnek seçildi. Test kümesi örnek azaltmaya tabi tutulmadı.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 kaynağı: https://physionet.org/content/mitdb/1.0.0/</a:t>
            </a:r>
          </a:p>
          <a:p xmlns:a="http://schemas.openxmlformats.org/drawingml/2006/main">
            <a:r>
              <a:t>Deney sonuçları: biomed_project/artifacts/comparison_improved.json. Kod: 07_improve_model.py ve 08_verify_improvement.py. Deney tarihi: 12 Ekim 2026.</a:t>
            </a:r>
          </a:p>
          <a:p xmlns:a="http://schemas.openxmlformats.org/drawingml/2006/main">
            <a:r>
              <a:t>run_pipeline.py --local-only --improve komutu ile sekiz aşama tamamlandı. Kesilen çalışma mevcut yerel veriyi yeniden kullanabilir.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 kaynağı: https://physionet.org/content/mitdb/1.0.0/</a:t>
            </a:r>
          </a:p>
          <a:p xmlns:a="http://schemas.openxmlformats.org/drawingml/2006/main">
            <a:r>
              <a:t>Deney sonuçları: biomed_project/artifacts/comparison_improved.json. Kod: 07_improve_model.py ve 08_verify_improvement.py. Deney tarihi: 12 Ekim 2026.</a:t>
            </a:r>
          </a:p>
          <a:p xmlns:a="http://schemas.openxmlformats.org/drawingml/2006/main">
            <a:r>
              <a:t>Pencere: R konumundan 90 örnek önce başlayıp 90 örnek sonrasına kadar 180 örnek. Dalga şekli medyan çıkarılarak merkezlenir ve tepe-tepe genlikle ölçeklenir. 24 nokta doğrusal enterpolasyonla elde edilir. RR özellikleri önceki, sonraki, yerel medyan, iki göreli oran ve farktır.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 kaynağı: https://physionet.org/content/mitdb/1.0.0/</a:t>
            </a:r>
          </a:p>
          <a:p xmlns:a="http://schemas.openxmlformats.org/drawingml/2006/main">
            <a:r>
              <a:t>Deney sonuçları: biomed_project/artifacts/comparison_improved.json. Kod: 07_improve_model.py ve 08_verify_improvement.py. Deney tarihi: 12 Ekim 2026.</a:t>
            </a:r>
          </a:p>
          <a:p xmlns:a="http://schemas.openxmlformats.org/drawingml/2006/main">
            <a:r>
              <a:t>GroupShuffleSplit iç doğrulama tohumları 17 ve 29, doğrulama payı kişi gruplarının %25'i. Her seçenek aynı iki bölmede değerlendirildi. StandardScaler ve sınıf başına örnek sınırı yalnızca ilgili eğitim bölümünde uygulandı. Tüm kNN modellerinde uzaklık ağırlığı kullanıldı.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 kaynağı: https://physionet.org/content/mitdb/1.0.0/</a:t>
            </a:r>
          </a:p>
          <a:p xmlns:a="http://schemas.openxmlformats.org/drawingml/2006/main">
            <a:r>
              <a:t>Deney sonuçları: biomed_project/artifacts/comparison_improved.json. Kod: 07_improve_model.py ve 08_verify_improvement.py. Deney tarihi: 12 Ekim 2026.</a:t>
            </a:r>
          </a:p>
          <a:p xmlns:a="http://schemas.openxmlformats.org/drawingml/2006/main">
            <a:r>
              <a:t>Aynı 23.686 test atımı üzerinde karşılaştırma. Macro-F1 beş sınıfın F1 değerlerine eşit ağırlık verir. Çoğunluk kontrolü eğitimdeki en sık sınıf olan N'yi her atıma atar. Doğruluk farkı -1,86 yüzde puan, Macro-F1 farkı +0,1218.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 kaynağı: https://physionet.org/content/mitdb/1.0.0/</a:t>
            </a:r>
          </a:p>
          <a:p xmlns:a="http://schemas.openxmlformats.org/drawingml/2006/main">
            <a:r>
              <a:t>Deney sonuçları: biomed_project/artifacts/comparison_improved.json. Kod: 07_improve_model.py ve 08_verify_improvement.py. Deney tarihi: 12 Ekim 2026.</a:t>
            </a:r>
          </a:p>
          <a:p xmlns:a="http://schemas.openxmlformats.org/drawingml/2006/main">
            <a:r>
              <a:t>N: normal ve ilişkili iletim/kaçış atımları. S: supraventriküler ektopik. V: ventriküler ektopik. F: normal ve ventriküler atım füzyonu. Q: bu projedeki eşlemede paced, paced-normal füzyon ve sınıflandırılamayan atımlar. Q başarısı tek bir aritmi başarısı olarak yorumlanmamalı.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 kaynağı: https://physionet.org/content/mitdb/1.0.0/</a:t>
            </a:r>
          </a:p>
          <a:p xmlns:a="http://schemas.openxmlformats.org/drawingml/2006/main">
            <a:r>
              <a:t>Deney sonuçları: biomed_project/artifacts/comparison_improved.json. Kod: 07_improve_model.py ve 08_verify_improvement.py. Deney tarihi: 12 Ekim 2026.</a:t>
            </a:r>
          </a:p>
          <a:p xmlns:a="http://schemas.openxmlformats.org/drawingml/2006/main">
            <a:r>
              <a:t>08_verify_improvement.py aynı test örneklerini, ayrık kişi gruplarını, eğitimde örneklemeyi, scaler ortalamalarını, modelden yeniden tahminleri ve metrikleri kontrol etti. PASS sonucu alındı. Yazılım doğrulaması klinik doğrulama anlamına gelmez.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 kaynağı: https://physionet.org/content/mitdb/1.0.0/</a:t>
            </a:r>
          </a:p>
          <a:p xmlns:a="http://schemas.openxmlformats.org/drawingml/2006/main">
            <a:r>
              <a:t>Deney sonuçları: biomed_project/artifacts/comparison_improved.json. Kod: 07_improve_model.py ve 08_verify_improvement.py. Deney tarihi: 12 Ekim 2026.</a:t>
            </a:r>
          </a:p>
          <a:p xmlns:a="http://schemas.openxmlformats.org/drawingml/2006/main">
            <a:r>
              <a:t>Bu ders projesi klinik tanı sistemi veya katı EC57 benchmark'ı olarak sunulmamalıdır. İstatistiksel anlamlılık testi ve bağımsız dış veri doğrulaması yapılmadı.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 kaynağı: https://physionet.org/content/mitdb/1.0.0/</a:t>
            </a:r>
          </a:p>
          <a:p xmlns:a="http://schemas.openxmlformats.org/drawingml/2006/main">
            <a:r>
              <a:t>Deney sonuçları: biomed_project/artifacts/comparison_improved.json. Kod: 07_improve_model.py ve 08_verify_improvement.py. Deney tarihi: 12 Ekim 2026.</a:t>
            </a:r>
          </a:p>
          <a:p xmlns:a="http://schemas.openxmlformats.org/drawingml/2006/main">
            <a:r>
              <a:t>Bu sayfadaki işler öneridir, mevcut çalışmada tamamlanmadı. Yeni denemelerde mevcut test grubuna göre sürekli ayar yapmak yerine yeni değerlendirme planı ve bağımsız veri gerekir.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 kaynağı: https://physionet.org/content/mitdb/1.0.0/</a:t>
            </a:r>
          </a:p>
          <a:p xmlns:a="http://schemas.openxmlformats.org/drawingml/2006/main">
            <a:r>
              <a:t>Deney sonuçları: biomed_project/artifacts/comparison_improved.json. Kod: 07_improve_model.py ve 08_verify_improvement.py. Deney tarihi: 12 Ekim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75473c38bd44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2ab0d9e2524fe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651e37e4a64d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dd9db286724f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fab969a3b94c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2d188bdb794c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5FEE60-5E41-4A49-B563-1FB82E84EF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298DAF5-2F15-497D-851C-A5EA529A5C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650D0DF-0E67-40C2-AFD8-144741B640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C3D0E5-A5A2-4113-92E3-7805A5590D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65B0809-E85D-4559-A0AA-B9D77E0560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F0F448-12AD-41EC-9E3D-B1BC6D4A6B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A06D38-A336-4E6F-8B77-2BB3A3C73A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3F2545C-1F84-4FA2-B5E8-7A01DCB07B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25F499-A55B-448D-A2FC-C502B1DDB3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0D78C8-E915-4382-8877-FA352FEAC3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bc4de04c9943a9" /><Relationship Type="http://schemas.openxmlformats.org/officeDocument/2006/relationships/slideLayout" Target="/ppt/slideLayouts/slideLayout1.xml" Id="Rf9e65baef1c44df2" /><Relationship Type="http://schemas.openxmlformats.org/officeDocument/2006/relationships/slideLayout" Target="/ppt/slideLayouts/slideLayout2.xml" Id="R015eaf05b0074eb2" /><Relationship Type="http://schemas.openxmlformats.org/officeDocument/2006/relationships/slideLayout" Target="/ppt/slideLayouts/slideLayout3.xml" Id="R487ae12c782b4003" /><Relationship Type="http://schemas.openxmlformats.org/officeDocument/2006/relationships/slideLayout" Target="/ppt/slideLayouts/slideLayout4.xml" Id="Re8647ae5b7ca41e7" /><Relationship Type="http://schemas.openxmlformats.org/officeDocument/2006/relationships/slideLayout" Target="/ppt/slideLayouts/slideLayout5.xml" Id="R4e2adc5e7baa4680" /><Relationship Type="http://schemas.openxmlformats.org/officeDocument/2006/relationships/slideLayout" Target="/ppt/slideLayouts/slideLayout6.xml" Id="R24f6f138d3ac40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e65baef1c44df2"/>
    <p:sldLayoutId xmlns:r="http://schemas.openxmlformats.org/officeDocument/2006/relationships" id="2147483650" r:id="R015eaf05b0074eb2"/>
    <p:sldLayoutId xmlns:r="http://schemas.openxmlformats.org/officeDocument/2006/relationships" id="2147483651" r:id="R487ae12c782b4003"/>
    <p:sldLayoutId xmlns:r="http://schemas.openxmlformats.org/officeDocument/2006/relationships" id="2147483652" r:id="Re8647ae5b7ca41e7"/>
    <p:sldLayoutId xmlns:r="http://schemas.openxmlformats.org/officeDocument/2006/relationships" id="2147483653" r:id="R4e2adc5e7baa4680"/>
    <p:sldLayoutId xmlns:r="http://schemas.openxmlformats.org/officeDocument/2006/relationships" id="2147483654" r:id="R24f6f138d3ac40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16db7952bf404b" /><Relationship Type="http://schemas.openxmlformats.org/officeDocument/2006/relationships/notesSlide" Target="/ppt/notesSlides/notesSlide1.xml" Id="R196592e1a7d846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deb84b61354dc9" /><Relationship Type="http://schemas.openxmlformats.org/officeDocument/2006/relationships/notesSlide" Target="/ppt/notesSlides/notesSlide2.xml" Id="Ref4ae5e74a484d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c3ca7204504d9a" /><Relationship Type="http://schemas.openxmlformats.org/officeDocument/2006/relationships/notesSlide" Target="/ppt/notesSlides/notesSlide3.xml" Id="Rd8c43678e8f24a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e8db62055c4c6c" /><Relationship Type="http://schemas.openxmlformats.org/officeDocument/2006/relationships/notesSlide" Target="/ppt/notesSlides/notesSlide4.xml" Id="Reb5a73463ce74d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bed8a55d4a4ac1" /><Relationship Type="http://schemas.openxmlformats.org/officeDocument/2006/relationships/notesSlide" Target="/ppt/notesSlides/notesSlide5.xml" Id="R8f76fd6a445f4d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f27db56ed84a87" /><Relationship Type="http://schemas.openxmlformats.org/officeDocument/2006/relationships/notesSlide" Target="/ppt/notesSlides/notesSlide6.xml" Id="R58fb829a9c714c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3fa01535cb459c" /><Relationship Type="http://schemas.openxmlformats.org/officeDocument/2006/relationships/notesSlide" Target="/ppt/notesSlides/notesSlide7.xml" Id="R8a8c828d4d8a49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5ee4d4afa743cd" /><Relationship Type="http://schemas.openxmlformats.org/officeDocument/2006/relationships/notesSlide" Target="/ppt/notesSlides/notesSlide8.xml" Id="R8e6d39976b8c48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9d9b551d9c43fb" /><Relationship Type="http://schemas.openxmlformats.org/officeDocument/2006/relationships/notesSlide" Target="/ppt/notesSlides/notesSlide9.xml" Id="Rb46f72700b7d45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08b82b82d44bb9" /><Relationship Type="http://schemas.openxmlformats.org/officeDocument/2006/relationships/notesSlide" Target="/ppt/notesSlides/notesSlide10.xml" Id="R517eb88734da42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39c04824764d98" /><Relationship Type="http://schemas.openxmlformats.org/officeDocument/2006/relationships/notesSlide" Target="/ppt/notesSlides/notesSlide11.xml" Id="R641b49fb98844c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2235446f6e4706" /><Relationship Type="http://schemas.openxmlformats.org/officeDocument/2006/relationships/notesSlide" Target="/ppt/notesSlides/notesSlide12.xml" Id="R11f1b1b7204e42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2F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4D0F5-564D-4542-A5D0-70615EF6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9D2D7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9D2D7"/>
                </a:solidFill>
              </a:defRPr>
            </a:pPr>
            <a:r>
              <a:rPr sz="1275" b="0">
                <a:solidFill>
                  <a:srgbClr val="B9D2D7"/>
                </a:solidFill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12A93-A39A-4A75-AABB-CE513DC9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9D2D7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9D2D7"/>
                </a:solidFill>
              </a:defRPr>
            </a:pPr>
            <a:r>
              <a:rPr sz="1875" b="0">
                <a:solidFill>
                  <a:srgbClr val="B9D2D7"/>
                </a:solidFill>
              </a:rPr>
              <a:t>EEM4011 · Biyomedikal Uygulamalarında</a:t>
            </a:r>
          </a:p>
          <a:p xmlns:a="http://schemas.openxmlformats.org/drawingml/2006/main">
            <a:pPr>
              <a:defRPr sz="1875" b="0">
                <a:solidFill>
                  <a:srgbClr val="B9D2D7"/>
                </a:solidFill>
              </a:defRPr>
            </a:pPr>
            <a:r>
              <a:rPr sz="1875" b="0">
                <a:solidFill>
                  <a:srgbClr val="B9D2D7"/>
                </a:solidFill>
              </a:rPr>
              <a:t>Programlama ve Modelleme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7B88A-14EB-4D4F-A13E-078BD1B8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85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EKG atımlarının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kNN ile sınıflandırılması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5F12B-0789-4E7C-A0F1-DCEC6D06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DAE9E8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DAE9E8"/>
                </a:solidFill>
              </a:defRPr>
            </a:pPr>
            <a:r>
              <a:rPr sz="2250" b="0">
                <a:solidFill>
                  <a:srgbClr val="DAE9E8"/>
                </a:solidFill>
              </a:rPr>
              <a:t>MIT-BIH tam veri seti üzerinde</a:t>
            </a:r>
          </a:p>
          <a:p xmlns:a="http://schemas.openxmlformats.org/drawingml/2006/main">
            <a:pPr>
              <a:defRPr sz="2250" b="0">
                <a:solidFill>
                  <a:srgbClr val="DAE9E8"/>
                </a:solidFill>
              </a:defRPr>
            </a:pPr>
            <a:r>
              <a:rPr sz="2250" b="0">
                <a:solidFill>
                  <a:srgbClr val="DAE9E8"/>
                </a:solidFill>
              </a:rPr>
              <a:t>hasta bazlı karşılaştırma ve özellik geliştirme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5DD21-A75E-47B4-AAE3-D41E0EFF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9D2D7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9D2D7"/>
                </a:solidFill>
              </a:defRPr>
            </a:pPr>
            <a:r>
              <a:rPr sz="1725" b="0">
                <a:solidFill>
                  <a:srgbClr val="B9D2D7"/>
                </a:solidFill>
              </a:rPr>
              <a:t>Yıldıray Yılmaz</a:t>
            </a:r>
          </a:p>
          <a:p xmlns:a="http://schemas.openxmlformats.org/drawingml/2006/main">
            <a:pPr>
              <a:defRPr sz="1725" b="0">
                <a:solidFill>
                  <a:srgbClr val="B9D2D7"/>
                </a:solidFill>
              </a:defRPr>
            </a:pPr>
            <a:r>
              <a:rPr sz="1725" b="0">
                <a:solidFill>
                  <a:srgbClr val="B9D2D7"/>
                </a:solidFill>
              </a:rPr>
              <a:t>14 Ekim 2026</a:t>
            </a:r>
          </a:p>
        </p:txBody>
      </p:sp>
    </p:spTree>
    <p:extLst>
      <p:ext uri="{BB962C8B-B14F-4D97-AF65-F5344CB8AC3E}">
        <p14:creationId xmlns:p14="http://schemas.microsoft.com/office/powerpoint/2010/main" val="124670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41D31-87F9-4D59-9FFD-979247DB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F42"/>
                </a:solidFill>
              </a:defRPr>
            </a:pPr>
            <a:r>
              <a:rPr sz="3300" b="1">
                <a:solidFill>
                  <a:srgbClr val="162F42"/>
                </a:solidFill>
              </a:rPr>
              <a:t>Projenin amacı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4134F-4ABF-478A-BB5F-7EF2D153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5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570"/>
                </a:solidFill>
              </a:defRPr>
            </a:pPr>
            <a:r>
              <a:rPr sz="1275" b="0">
                <a:solidFill>
                  <a:srgbClr val="506570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7D3E8-84A8-4687-986C-14B7325B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87F83"/>
                </a:solidFill>
              </a:defRPr>
            </a:pPr>
            <a:r>
              <a:rPr sz="2850" b="1">
                <a:solidFill>
                  <a:srgbClr val="087F83"/>
                </a:solidFill>
              </a:rPr>
              <a:t>Dalga şekli ve atımlar arası süre,</a:t>
            </a:r>
          </a:p>
          <a:p xmlns:a="http://schemas.openxmlformats.org/drawingml/2006/main">
            <a:pPr>
              <a:defRPr sz="2850" b="1">
                <a:solidFill>
                  <a:srgbClr val="087F83"/>
                </a:solidFill>
              </a:defRPr>
            </a:pPr>
            <a:r>
              <a:rPr sz="2850" b="1">
                <a:solidFill>
                  <a:srgbClr val="087F83"/>
                </a:solidFill>
              </a:rPr>
              <a:t>basit kNN modelinin sınıf başarısını artırır mı?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7E3E5-4A21-48C9-980C-4FA2D33D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2F42"/>
                </a:solidFill>
              </a:defRPr>
            </a:pPr>
            <a:r>
              <a:rPr sz="2175" b="1">
                <a:solidFill>
                  <a:srgbClr val="162F42"/>
                </a:solidFill>
              </a:rPr>
              <a:t>Girdi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5B1DE-7011-4CA7-B725-F35AC010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718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2F42"/>
                </a:solidFill>
              </a:defRPr>
            </a:pPr>
            <a:r>
              <a:rPr sz="2100" b="0">
                <a:solidFill>
                  <a:srgbClr val="162F42"/>
                </a:solidFill>
              </a:rPr>
              <a:t>Tek kanallı EKG ve referans atım konumları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D1D34-1642-4302-9881-71A23DB9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2F42"/>
                </a:solidFill>
              </a:defRPr>
            </a:pPr>
            <a:r>
              <a:rPr sz="2175" b="1">
                <a:solidFill>
                  <a:srgbClr val="162F42"/>
                </a:solidFill>
              </a:rPr>
              <a:t>Çıktı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7DB89-BD58-416D-BF2C-5DB5FA35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910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2F42"/>
                </a:solidFill>
              </a:defRPr>
            </a:pPr>
            <a:r>
              <a:rPr sz="2100" b="0">
                <a:solidFill>
                  <a:srgbClr val="162F42"/>
                </a:solidFill>
              </a:rPr>
              <a:t>Her atım için N, S, V, F veya Q sınıfı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504B7-51E2-43F7-8DAE-C921FDCF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2F42"/>
                </a:solidFill>
              </a:defRPr>
            </a:pPr>
            <a:r>
              <a:rPr sz="2175" b="1">
                <a:solidFill>
                  <a:srgbClr val="162F42"/>
                </a:solidFill>
              </a:rPr>
              <a:t>Kapsam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FA82E-4D51-4AAC-AE72-C77456E5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0150"/>
            <a:ext cx="857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2F42"/>
                </a:solidFill>
              </a:defRPr>
            </a:pPr>
            <a:r>
              <a:rPr sz="2100" b="0">
                <a:solidFill>
                  <a:srgbClr val="162F42"/>
                </a:solidFill>
              </a:rPr>
              <a:t>Çevrimdışı sınıflandırma ve tekrarlanabilir deney</a:t>
            </a:r>
          </a:p>
        </p:txBody>
      </p:sp>
    </p:spTree>
    <p:extLst>
      <p:ext uri="{BB962C8B-B14F-4D97-AF65-F5344CB8AC3E}">
        <p14:creationId xmlns:p14="http://schemas.microsoft.com/office/powerpoint/2010/main" val="5016048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62E1D-F638-4128-A0AC-AC8D71B8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F42"/>
                </a:solidFill>
              </a:defRPr>
            </a:pPr>
            <a:r>
              <a:rPr sz="3300" b="1">
                <a:solidFill>
                  <a:srgbClr val="162F42"/>
                </a:solidFill>
              </a:rPr>
              <a:t>Veri seti ve kullanılan örnekler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90FEB-08EB-49FF-B5E8-DE363083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5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570"/>
                </a:solidFill>
              </a:defRPr>
            </a:pPr>
            <a:r>
              <a:rPr sz="1275" b="0">
                <a:solidFill>
                  <a:srgbClr val="506570"/>
                </a:solidFill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5E986-ACA3-4F35-A6DB-0E55694F31B9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5353050"/>
              </a:tblGrid>
              <a:tr h="579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Veri / bölüm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0"/>
                      </a:solidFill>
                      <a:prstDash val="solid"/>
                    </a:lnL>
                    <a:lnR w="9525">
                      <a:solidFill>
                        <a:srgbClr val="D4DFE0"/>
                      </a:solidFill>
                      <a:prstDash val="solid"/>
                    </a:lnR>
                    <a:lnT w="9525">
                      <a:solidFill>
                        <a:srgbClr val="D4DFE0"/>
                      </a:solidFill>
                      <a:prstDash val="solid"/>
                    </a:lnT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16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Kapsam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T w="9525">
                      <a:solidFill>
                        <a:srgbClr val="D4DFE0"/>
                      </a:solidFill>
                      <a:prstDash val="solid"/>
                    </a:lnT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162F42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MIT-BIH Arrhythmia Database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0"/>
                      </a:solidFill>
                      <a:prstDash val="solid"/>
                    </a:lnL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48 kayıt, 47 kişi, 360 Hz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Geçerli atım pencereleri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0"/>
                      </a:solidFill>
                      <a:prstDash val="solid"/>
                    </a:lnL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109.468 atım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Eğitim havuzu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0"/>
                      </a:solidFill>
                      <a:prstDash val="solid"/>
                    </a:lnL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85.782 atım, 37 kişi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Test kümesi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0"/>
                      </a:solidFill>
                      <a:prstDash val="solid"/>
                    </a:lnL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23.686 atım, 10 kişi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Seçilen modelin eğitim örnekleri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0"/>
                      </a:solidFill>
                      <a:prstDash val="solid"/>
                    </a:lnL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18.048 atım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0599B-862D-4660-AE09-FDE12522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F83"/>
                </a:solidFill>
              </a:defRPr>
            </a:pPr>
            <a:r>
              <a:rPr sz="1875" b="0">
                <a:solidFill>
                  <a:srgbClr val="087F83"/>
                </a:solidFill>
              </a:rPr>
              <a:t>201 ve 202 aynı kişiye ait olduğundan aynı bölümde tutuldu.</a:t>
            </a:r>
          </a:p>
        </p:txBody>
      </p:sp>
    </p:spTree>
    <p:extLst>
      <p:ext uri="{BB962C8B-B14F-4D97-AF65-F5344CB8AC3E}">
        <p14:creationId xmlns:p14="http://schemas.microsoft.com/office/powerpoint/2010/main" val="18833284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0D76FB-0160-4DCF-8ED4-C6D2027C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F42"/>
                </a:solidFill>
              </a:defRPr>
            </a:pPr>
            <a:r>
              <a:rPr sz="3300" b="1">
                <a:solidFill>
                  <a:srgbClr val="162F42"/>
                </a:solidFill>
              </a:rPr>
              <a:t>Sekiz aşamalı çalışma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32AF2-0530-47E9-970A-7761BDA7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5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570"/>
                </a:solidFill>
              </a:defRPr>
            </a:pPr>
            <a:r>
              <a:rPr sz="1275" b="0">
                <a:solidFill>
                  <a:srgbClr val="506570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DC70C-99A1-4339-B195-15C7D219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3"/>
                </a:solidFill>
              </a:defRPr>
            </a:pPr>
            <a:r>
              <a:rPr sz="2175" b="1">
                <a:solidFill>
                  <a:srgbClr val="087F83"/>
                </a:solidFill>
              </a:rPr>
              <a:t>01  Ortam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E6EF9-30AE-4789-AF3D-2CC487DA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F42"/>
                </a:solidFill>
              </a:defRPr>
            </a:pPr>
            <a:r>
              <a:rPr sz="1875" b="0">
                <a:solidFill>
                  <a:srgbClr val="162F42"/>
                </a:solidFill>
              </a:rPr>
              <a:t>Python bağımlılıkları ve sürümler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BFC2B-D8FF-44AC-B58B-66D5A676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3"/>
                </a:solidFill>
              </a:defRPr>
            </a:pPr>
            <a:r>
              <a:rPr sz="2175" b="1">
                <a:solidFill>
                  <a:srgbClr val="087F83"/>
                </a:solidFill>
              </a:rPr>
              <a:t>02  Veri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BCA7F-9145-48C0-BD22-DE7F3E58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F42"/>
                </a:solidFill>
              </a:defRPr>
            </a:pPr>
            <a:r>
              <a:rPr sz="1875" b="0">
                <a:solidFill>
                  <a:srgbClr val="162F42"/>
                </a:solidFill>
              </a:rPr>
              <a:t>48 kaydın indirilmesi ve kontrolü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9C9DD-BCF7-4390-9BA7-4A598472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3"/>
                </a:solidFill>
              </a:defRPr>
            </a:pPr>
            <a:r>
              <a:rPr sz="2175" b="1">
                <a:solidFill>
                  <a:srgbClr val="087F83"/>
                </a:solidFill>
              </a:rPr>
              <a:t>03  Okuma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FCD5D-43BF-4894-9DCC-329CF3BC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F42"/>
                </a:solidFill>
              </a:defRPr>
            </a:pPr>
            <a:r>
              <a:rPr sz="1875" b="0">
                <a:solidFill>
                  <a:srgbClr val="162F42"/>
                </a:solidFill>
              </a:rPr>
              <a:t>EKG ve anotasyonların eşlenmesi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98B3D-8D95-41AA-AAF4-841C6CAD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3"/>
                </a:solidFill>
              </a:defRPr>
            </a:pPr>
            <a:r>
              <a:rPr sz="2175" b="1">
                <a:solidFill>
                  <a:srgbClr val="087F83"/>
                </a:solidFill>
              </a:rPr>
              <a:t>04  Özellik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47818-EB7B-42D5-8F49-3809CD4C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F42"/>
                </a:solidFill>
              </a:defRPr>
            </a:pPr>
            <a:r>
              <a:rPr sz="1875" b="0">
                <a:solidFill>
                  <a:srgbClr val="162F42"/>
                </a:solidFill>
              </a:rPr>
              <a:t>Her atımdan sayısal özellik çıkarımı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B494B-57C0-4210-9DBA-171A8459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145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3"/>
                </a:solidFill>
              </a:defRPr>
            </a:pPr>
            <a:r>
              <a:rPr sz="2175" b="1">
                <a:solidFill>
                  <a:srgbClr val="087F83"/>
                </a:solidFill>
              </a:rPr>
              <a:t>05  Başlangıç modeli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AE0A4-A0C3-4EEE-A9AE-E0C1AD0E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336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F42"/>
                </a:solidFill>
              </a:defRPr>
            </a:pPr>
            <a:r>
              <a:rPr sz="1875" b="0">
                <a:solidFill>
                  <a:srgbClr val="162F42"/>
                </a:solidFill>
              </a:rPr>
              <a:t>Hasta ayrımı ve kNN eğitimi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B4398-069C-4F36-9101-D94C8213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3"/>
                </a:solidFill>
              </a:defRPr>
            </a:pPr>
            <a:r>
              <a:rPr sz="2175" b="1">
                <a:solidFill>
                  <a:srgbClr val="087F83"/>
                </a:solidFill>
              </a:rPr>
              <a:t>06  Ölçüm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F6B72-B619-4818-9BDD-7F48DDBB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004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F42"/>
                </a:solidFill>
              </a:defRPr>
            </a:pPr>
            <a:r>
              <a:rPr sz="1875" b="0">
                <a:solidFill>
                  <a:srgbClr val="162F42"/>
                </a:solidFill>
              </a:rPr>
              <a:t>Başlangıç metrikleri ve hata matrisi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1F954-9A8A-46A7-A1E2-48140B9F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481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3"/>
                </a:solidFill>
              </a:defRPr>
            </a:pPr>
            <a:r>
              <a:rPr sz="2175" b="1">
                <a:solidFill>
                  <a:srgbClr val="087F83"/>
                </a:solidFill>
              </a:rPr>
              <a:t>07  Geliştirme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0A819B-2CBE-4F63-B035-36196AF2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672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F42"/>
                </a:solidFill>
              </a:defRPr>
            </a:pPr>
            <a:r>
              <a:rPr sz="1875" b="0">
                <a:solidFill>
                  <a:srgbClr val="162F42"/>
                </a:solidFill>
              </a:rPr>
              <a:t>Yeni özellikler ve iç doğrulama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D48C3-EFC0-4B30-8B36-D0D1E9FE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149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3"/>
                </a:solidFill>
              </a:defRPr>
            </a:pPr>
            <a:r>
              <a:rPr sz="2175" b="1">
                <a:solidFill>
                  <a:srgbClr val="087F83"/>
                </a:solidFill>
              </a:rPr>
              <a:t>08  Kontrol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0B178-2251-49A2-9FAA-6B22165A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340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F42"/>
                </a:solidFill>
              </a:defRPr>
            </a:pPr>
            <a:r>
              <a:rPr sz="1875" b="0">
                <a:solidFill>
                  <a:srgbClr val="162F42"/>
                </a:solidFill>
              </a:rPr>
              <a:t>Ayrımların ve sonuçların doğrulanması</a:t>
            </a:r>
          </a:p>
        </p:txBody>
      </p:sp>
    </p:spTree>
    <p:extLst>
      <p:ext uri="{BB962C8B-B14F-4D97-AF65-F5344CB8AC3E}">
        <p14:creationId xmlns:p14="http://schemas.microsoft.com/office/powerpoint/2010/main" val="5580194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AF75A-C376-4B85-8417-B49DBBD6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F42"/>
                </a:solidFill>
              </a:defRPr>
            </a:pPr>
            <a:r>
              <a:rPr sz="3300" b="1">
                <a:solidFill>
                  <a:srgbClr val="162F42"/>
                </a:solidFill>
              </a:rPr>
              <a:t>Altı özellikten 36 özelliğe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D82F5-4188-4994-BEE0-54607968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5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570"/>
                </a:solidFill>
              </a:defRPr>
            </a:pPr>
            <a:r>
              <a:rPr sz="1275" b="0">
                <a:solidFill>
                  <a:srgbClr val="506570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F845C-A653-4202-AC01-D0AF81F5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087F83"/>
                </a:solidFill>
              </a:defRPr>
            </a:pPr>
            <a:r>
              <a:rPr sz="5400" b="1">
                <a:solidFill>
                  <a:srgbClr val="087F83"/>
                </a:solidFill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C526C-46E8-41D0-BA59-864AA486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78117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2F42"/>
                </a:solidFill>
              </a:defRPr>
            </a:pPr>
            <a:r>
              <a:rPr sz="2400" b="1">
                <a:solidFill>
                  <a:srgbClr val="162F42"/>
                </a:solidFill>
              </a:rPr>
              <a:t>Temel istatistikler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F50CE-E6D6-4CC5-9AE2-00253BFB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295525"/>
            <a:ext cx="866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F42"/>
                </a:solidFill>
              </a:defRPr>
            </a:pPr>
            <a:r>
              <a:rPr sz="2025" b="0">
                <a:solidFill>
                  <a:srgbClr val="162F42"/>
                </a:solidFill>
              </a:rPr>
              <a:t>Ortalama, standart sapma, minimum, maksimum,</a:t>
            </a:r>
          </a:p>
          <a:p xmlns:a="http://schemas.openxmlformats.org/drawingml/2006/main">
            <a:pPr>
              <a:defRPr sz="2025" b="0">
                <a:solidFill>
                  <a:srgbClr val="162F42"/>
                </a:solidFill>
              </a:defRPr>
            </a:pPr>
            <a:r>
              <a:rPr sz="2025" b="0">
                <a:solidFill>
                  <a:srgbClr val="162F42"/>
                </a:solidFill>
              </a:rPr>
              <a:t>tepe-tepe genlik ve RMS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0CC6E-DAC7-421C-9EE1-3341D007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087F83"/>
                </a:solidFill>
              </a:defRPr>
            </a:pPr>
            <a:r>
              <a:rPr sz="5400" b="1">
                <a:solidFill>
                  <a:srgbClr val="087F83"/>
                </a:solidFill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832AA-738B-44D6-91BB-1BFE7ADF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6232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2F42"/>
                </a:solidFill>
              </a:defRPr>
            </a:pPr>
            <a:r>
              <a:rPr sz="2400" b="1">
                <a:solidFill>
                  <a:srgbClr val="162F42"/>
                </a:solidFill>
              </a:rPr>
              <a:t>Dalga şekli noktaları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3391D-456E-435C-90CE-90CAB348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876675"/>
            <a:ext cx="866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F42"/>
                </a:solidFill>
              </a:defRPr>
            </a:pPr>
            <a:r>
              <a:rPr sz="2025" b="0">
                <a:solidFill>
                  <a:srgbClr val="162F42"/>
                </a:solidFill>
              </a:rPr>
              <a:t>180 örneklik pencereden normalize edilmiş temsil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D44C1-EE4B-4FFC-B8FA-7B5BF34C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087F83"/>
                </a:solidFill>
              </a:defRPr>
            </a:pPr>
            <a:r>
              <a:rPr sz="5400" b="1">
                <a:solidFill>
                  <a:srgbClr val="087F83"/>
                </a:solidFill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F5019-3101-4DD4-93CC-B6F0E647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8387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2F42"/>
                </a:solidFill>
              </a:defRPr>
            </a:pPr>
            <a:r>
              <a:rPr sz="2400" b="1">
                <a:solidFill>
                  <a:srgbClr val="162F42"/>
                </a:solidFill>
              </a:rPr>
              <a:t>RR özellikleri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32AEA-34FD-41B7-8A4A-C82A2D23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353050"/>
            <a:ext cx="866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F42"/>
                </a:solidFill>
              </a:defRPr>
            </a:pPr>
            <a:r>
              <a:rPr sz="2025" b="0">
                <a:solidFill>
                  <a:srgbClr val="162F42"/>
                </a:solidFill>
              </a:rPr>
              <a:t>Önceki ve sonraki atım süreleri, yerel ritim ve oranlar</a:t>
            </a:r>
          </a:p>
        </p:txBody>
      </p:sp>
    </p:spTree>
    <p:extLst>
      <p:ext uri="{BB962C8B-B14F-4D97-AF65-F5344CB8AC3E}">
        <p14:creationId xmlns:p14="http://schemas.microsoft.com/office/powerpoint/2010/main" val="3957720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6609F-79BB-44AC-9CC5-8FC6B954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F42"/>
                </a:solidFill>
              </a:defRPr>
            </a:pPr>
            <a:r>
              <a:rPr sz="3300" b="1">
                <a:solidFill>
                  <a:srgbClr val="162F42"/>
                </a:solidFill>
              </a:rPr>
              <a:t>Model seçimi yalnızca eğitim içinde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B6B57-95A2-4D69-B5F5-D0686204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5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570"/>
                </a:solidFill>
              </a:defRPr>
            </a:pPr>
            <a:r>
              <a:rPr sz="1275" b="0">
                <a:solidFill>
                  <a:srgbClr val="506570"/>
                </a:solidFill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BD565-CC1C-49FC-BAB8-E515F0526562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1619250"/>
                <a:gridCol w="2762250"/>
                <a:gridCol w="2876550"/>
              </a:tblGrid>
              <a:tr h="6096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Seçenek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0"/>
                      </a:solidFill>
                      <a:prstDash val="solid"/>
                    </a:lnL>
                    <a:lnR w="9525">
                      <a:solidFill>
                        <a:srgbClr val="D4DFE0"/>
                      </a:solidFill>
                      <a:prstDash val="solid"/>
                    </a:lnR>
                    <a:lnT w="9525">
                      <a:solidFill>
                        <a:srgbClr val="D4DFE0"/>
                      </a:solidFill>
                      <a:prstDash val="solid"/>
                    </a:lnT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16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Özellik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T w="9525">
                      <a:solidFill>
                        <a:srgbClr val="D4DFE0"/>
                      </a:solidFill>
                      <a:prstDash val="solid"/>
                    </a:lnT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16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Sınıf başına sınır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T w="9525">
                      <a:solidFill>
                        <a:srgbClr val="D4DFE0"/>
                      </a:solidFill>
                      <a:prstDash val="solid"/>
                    </a:lnT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16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Ort. Macro-F1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T w="9525">
                      <a:solidFill>
                        <a:srgbClr val="D4DFE0"/>
                      </a:solidFill>
                      <a:prstDash val="solid"/>
                    </a:lnT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162F4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Başlangıç, k=5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0"/>
                      </a:solidFill>
                      <a:prstDash val="solid"/>
                    </a:lnL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Yok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0,3091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Dalga + RR, k=5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0"/>
                      </a:solidFill>
                      <a:prstDash val="solid"/>
                    </a:lnL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36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Yok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0,4491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Dalga + RR, k=5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0"/>
                      </a:solidFill>
                      <a:prstDash val="solid"/>
                    </a:lnL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36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2.000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0,4849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Dalga + RR, k=7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0"/>
                      </a:solidFill>
                      <a:prstDash val="solid"/>
                    </a:lnL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36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5.000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0,4971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185DA-C076-4C83-9481-29DF6BEC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87F83"/>
                </a:solidFill>
              </a:defRPr>
            </a:pPr>
            <a:r>
              <a:rPr sz="2325" b="1">
                <a:solidFill>
                  <a:srgbClr val="087F83"/>
                </a:solidFill>
              </a:rPr>
              <a:t>İki ayrı hasta bölmesinde en yüksek ortalama: 0,4971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D5D5D-9C3B-4EBA-8C7E-B3CB066E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F42"/>
                </a:solidFill>
              </a:defRPr>
            </a:pPr>
            <a:r>
              <a:rPr sz="1875" b="0">
                <a:solidFill>
                  <a:srgbClr val="162F42"/>
                </a:solidFill>
              </a:rPr>
              <a:t>Seçilen model: 7 komşu, 36 özellik, sınıf başına en çok 5.000 atım.</a:t>
            </a:r>
          </a:p>
        </p:txBody>
      </p:sp>
    </p:spTree>
    <p:extLst>
      <p:ext uri="{BB962C8B-B14F-4D97-AF65-F5344CB8AC3E}">
        <p14:creationId xmlns:p14="http://schemas.microsoft.com/office/powerpoint/2010/main" val="16977862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F3A23-D993-447F-95A3-E8F8F802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F42"/>
                </a:solidFill>
              </a:defRPr>
            </a:pPr>
            <a:r>
              <a:rPr sz="3300" b="1">
                <a:solidFill>
                  <a:srgbClr val="162F42"/>
                </a:solidFill>
              </a:rPr>
              <a:t>Macro-F1 yükseldi, doğruluk düştü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C59D0-6C90-469D-9B0B-E8D15BC6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5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570"/>
                </a:solidFill>
              </a:defRPr>
            </a:pPr>
            <a:r>
              <a:rPr sz="1275" b="0">
                <a:solidFill>
                  <a:srgbClr val="506570"/>
                </a:solidFill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00D8F-FCF7-4DCA-80E7-7427CEAD089D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38800"/>
                <a:gridCol w="2667000"/>
                <a:gridCol w="26670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0"/>
                      </a:solidFill>
                      <a:prstDash val="solid"/>
                    </a:lnL>
                    <a:lnR w="9525">
                      <a:solidFill>
                        <a:srgbClr val="D4DFE0"/>
                      </a:solidFill>
                      <a:prstDash val="solid"/>
                    </a:lnR>
                    <a:lnT w="9525">
                      <a:solidFill>
                        <a:srgbClr val="D4DFE0"/>
                      </a:solidFill>
                      <a:prstDash val="solid"/>
                    </a:lnT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16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Doğruluk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T w="9525">
                      <a:solidFill>
                        <a:srgbClr val="D4DFE0"/>
                      </a:solidFill>
                      <a:prstDash val="solid"/>
                    </a:lnT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16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Macro-F1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T w="9525">
                      <a:solidFill>
                        <a:srgbClr val="D4DFE0"/>
                      </a:solidFill>
                      <a:prstDash val="solid"/>
                    </a:lnT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162F4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Her zaman 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0"/>
                      </a:solidFill>
                      <a:prstDash val="solid"/>
                    </a:lnL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%84,75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0,1835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Başlangıç kNN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0"/>
                      </a:solidFill>
                      <a:prstDash val="solid"/>
                    </a:lnL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%76,37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0,3043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Geliştirilmiş kNN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0"/>
                      </a:solidFill>
                      <a:prstDash val="solid"/>
                    </a:lnL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%74,50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0,4261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7C187-4B85-499D-9823-50BCECED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087F83"/>
                </a:solidFill>
              </a:defRPr>
            </a:pPr>
            <a:r>
              <a:rPr sz="4200" b="1">
                <a:solidFill>
                  <a:srgbClr val="087F83"/>
                </a:solidFill>
              </a:rPr>
              <a:t>+0,1218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B3B47-8C45-4487-8983-4635ABFF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F42"/>
                </a:solidFill>
              </a:defRPr>
            </a:pPr>
            <a:r>
              <a:rPr sz="2025" b="0">
                <a:solidFill>
                  <a:srgbClr val="162F42"/>
                </a:solidFill>
              </a:rPr>
              <a:t>Macro-F1 değişimi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0BA58-771F-4891-808D-064BEA70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743450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9A511F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9A511F"/>
                </a:solidFill>
              </a:defRPr>
            </a:pPr>
            <a:r>
              <a:rPr sz="3600" b="1">
                <a:solidFill>
                  <a:srgbClr val="9A511F"/>
                </a:solidFill>
              </a:rPr>
              <a:t>−1,86 yüzde puan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55AEA-8413-4CFB-8BC1-C3AB5737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56260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F42"/>
                </a:solidFill>
              </a:defRPr>
            </a:pPr>
            <a:r>
              <a:rPr sz="2025" b="0">
                <a:solidFill>
                  <a:srgbClr val="162F42"/>
                </a:solidFill>
              </a:rPr>
              <a:t>Genel doğruluk değişimi</a:t>
            </a:r>
          </a:p>
        </p:txBody>
      </p:sp>
    </p:spTree>
    <p:extLst>
      <p:ext uri="{BB962C8B-B14F-4D97-AF65-F5344CB8AC3E}">
        <p14:creationId xmlns:p14="http://schemas.microsoft.com/office/powerpoint/2010/main" val="8337716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9CBE7-F5B3-45E6-BA70-D73A0FD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F42"/>
                </a:solidFill>
              </a:defRPr>
            </a:pPr>
            <a:r>
              <a:rPr sz="3300" b="1">
                <a:solidFill>
                  <a:srgbClr val="162F42"/>
                </a:solidFill>
              </a:rPr>
              <a:t>Sınıflara göre sonuçlar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4641E-FEB2-44C1-89D2-E8CBEE6E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5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570"/>
                </a:solidFill>
              </a:defRPr>
            </a:pPr>
            <a:r>
              <a:rPr sz="1275" b="0">
                <a:solidFill>
                  <a:srgbClr val="506570"/>
                </a:solidFill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21D1E-9C12-4C6F-B3AA-9CF67C413D24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048000"/>
                <a:gridCol w="2819400"/>
                <a:gridCol w="2819400"/>
              </a:tblGrid>
              <a:tr h="555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Sınıf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0"/>
                      </a:solidFill>
                      <a:prstDash val="solid"/>
                    </a:lnL>
                    <a:lnR w="9525">
                      <a:solidFill>
                        <a:srgbClr val="D4DFE0"/>
                      </a:solidFill>
                      <a:prstDash val="solid"/>
                    </a:lnR>
                    <a:lnT w="9525">
                      <a:solidFill>
                        <a:srgbClr val="D4DFE0"/>
                      </a:solidFill>
                      <a:prstDash val="solid"/>
                    </a:lnT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16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Test atımı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T w="9525">
                      <a:solidFill>
                        <a:srgbClr val="D4DFE0"/>
                      </a:solidFill>
                      <a:prstDash val="solid"/>
                    </a:lnT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16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Önce F1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T w="9525">
                      <a:solidFill>
                        <a:srgbClr val="D4DFE0"/>
                      </a:solidFill>
                      <a:prstDash val="solid"/>
                    </a:lnT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16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</a:rPr>
                        <a:t>Sonra F1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T w="9525">
                      <a:solidFill>
                        <a:srgbClr val="D4DFE0"/>
                      </a:solidFill>
                      <a:prstDash val="solid"/>
                    </a:lnT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162F42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0"/>
                      </a:solidFill>
                      <a:prstDash val="solid"/>
                    </a:lnL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20073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0,8635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0,8424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0"/>
                      </a:solidFill>
                      <a:prstDash val="solid"/>
                    </a:lnL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519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0,0257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0,1114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V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0"/>
                      </a:solidFill>
                      <a:prstDash val="solid"/>
                    </a:lnL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1011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0,3843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0,3808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F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0"/>
                      </a:solidFill>
                      <a:prstDash val="solid"/>
                    </a:lnL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16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0,0000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0,0000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EAF0E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Q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0"/>
                      </a:solidFill>
                      <a:prstDash val="solid"/>
                    </a:lnL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2067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0,2478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F42"/>
                          </a:solidFill>
                        </a:rPr>
                        <a:t>0,7957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0"/>
                      </a:solidFill>
                      <a:prstDash val="solid"/>
                    </a:lnR>
                    <a:lnB w="9525">
                      <a:solidFill>
                        <a:srgbClr val="D4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B0094-2408-4D99-9D98-BFD4828E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F83"/>
                </a:solidFill>
              </a:defRPr>
            </a:pPr>
            <a:r>
              <a:rPr sz="2100" b="1">
                <a:solidFill>
                  <a:srgbClr val="087F83"/>
                </a:solidFill>
              </a:rPr>
              <a:t>En büyük kazanç Q sınıfında. F sınıfında doğru tahmin yok.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CDC29-ED7C-4D5F-BE8A-6CE300F8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9A511F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A511F"/>
                </a:solidFill>
              </a:defRPr>
            </a:pPr>
            <a:r>
              <a:rPr sz="1875" b="0">
                <a:solidFill>
                  <a:srgbClr val="9A511F"/>
                </a:solidFill>
              </a:rPr>
              <a:t>S duyarlılığı %34,87, kesinliği %6,63. Yanlış pozitifler hâlâ fazla.</a:t>
            </a:r>
          </a:p>
        </p:txBody>
      </p:sp>
    </p:spTree>
    <p:extLst>
      <p:ext uri="{BB962C8B-B14F-4D97-AF65-F5344CB8AC3E}">
        <p14:creationId xmlns:p14="http://schemas.microsoft.com/office/powerpoint/2010/main" val="11355674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8A0DE-DCEE-469F-B47F-AEB1E839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F42"/>
                </a:solidFill>
              </a:defRPr>
            </a:pPr>
            <a:r>
              <a:rPr sz="3300" b="1">
                <a:solidFill>
                  <a:srgbClr val="162F42"/>
                </a:solidFill>
              </a:rPr>
              <a:t>Yapılan doğrulamalar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2767A-C64A-421A-8A15-5F7AAFE2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5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570"/>
                </a:solidFill>
              </a:defRPr>
            </a:pPr>
            <a:r>
              <a:rPr sz="1275" b="0">
                <a:solidFill>
                  <a:srgbClr val="506570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486D1-DB55-4B38-BC61-7F350437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F83"/>
                </a:solidFill>
              </a:defRPr>
            </a:pPr>
            <a:r>
              <a:rPr sz="2250" b="1">
                <a:solidFill>
                  <a:srgbClr val="087F83"/>
                </a:solidFill>
              </a:rPr>
              <a:t>Aynı karşılaştırma zemini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F8FB5-31BD-487F-A125-9D5B3705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2F42"/>
                </a:solidFill>
              </a:defRPr>
            </a:pPr>
            <a:r>
              <a:rPr sz="1950" b="0">
                <a:solidFill>
                  <a:srgbClr val="162F42"/>
                </a:solidFill>
              </a:rPr>
              <a:t>Başlangıç ve yeni model aynı test atımlarını kullanıyor.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7495B-0497-4BCE-A82E-A093FB96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F83"/>
                </a:solidFill>
              </a:defRPr>
            </a:pPr>
            <a:r>
              <a:rPr sz="2250" b="1">
                <a:solidFill>
                  <a:srgbClr val="087F83"/>
                </a:solidFill>
              </a:rPr>
              <a:t>Hasta ayrımı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B1546-789D-4400-8D87-3469A26E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2F42"/>
                </a:solidFill>
              </a:defRPr>
            </a:pPr>
            <a:r>
              <a:rPr sz="1950" b="0">
                <a:solidFill>
                  <a:srgbClr val="162F42"/>
                </a:solidFill>
              </a:rPr>
              <a:t>Eğitim, iç doğrulama ve test arasında kişi karışması yok.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7EF39-BFFC-45E3-809F-E3B7A5E9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F83"/>
                </a:solidFill>
              </a:defRPr>
            </a:pPr>
            <a:r>
              <a:rPr sz="2250" b="1">
                <a:solidFill>
                  <a:srgbClr val="087F83"/>
                </a:solidFill>
              </a:rPr>
              <a:t>Eğitim sınırları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D043A-C8F1-4076-99D8-FEB7B54F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2F42"/>
                </a:solidFill>
              </a:defRPr>
            </a:pPr>
            <a:r>
              <a:rPr sz="1950" b="0">
                <a:solidFill>
                  <a:srgbClr val="162F42"/>
                </a:solidFill>
              </a:rPr>
              <a:t>Ölçekleme ve örnek seçimi yalnızca eğitimde uygulanıyor.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35D4B-5545-4119-BD5B-C6D98808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F83"/>
                </a:solidFill>
              </a:defRPr>
            </a:pPr>
            <a:r>
              <a:rPr sz="2250" b="1">
                <a:solidFill>
                  <a:srgbClr val="087F83"/>
                </a:solidFill>
              </a:rPr>
              <a:t>Yeniden hesaplama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840D9-901B-48EB-B8AD-6AEDF9DE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2F42"/>
                </a:solidFill>
              </a:defRPr>
            </a:pPr>
            <a:r>
              <a:rPr sz="1950" b="0">
                <a:solidFill>
                  <a:srgbClr val="162F42"/>
                </a:solidFill>
              </a:rPr>
              <a:t>Kaydedilen model tahminleri ve rapor metrikleri eşleşiyor.</a:t>
            </a:r>
          </a:p>
        </p:txBody>
      </p:sp>
    </p:spTree>
    <p:extLst>
      <p:ext uri="{BB962C8B-B14F-4D97-AF65-F5344CB8AC3E}">
        <p14:creationId xmlns:p14="http://schemas.microsoft.com/office/powerpoint/2010/main" val="4498851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BA3DFF-D8DD-49CF-BCB8-C4CC1762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F42"/>
                </a:solidFill>
              </a:defRPr>
            </a:pPr>
            <a:r>
              <a:rPr sz="3300" b="1">
                <a:solidFill>
                  <a:srgbClr val="162F42"/>
                </a:solidFill>
              </a:rPr>
              <a:t>Sonuçların sınırları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C997D-2EE5-433A-854B-B27F712D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5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570"/>
                </a:solidFill>
              </a:defRPr>
            </a:pPr>
            <a:r>
              <a:rPr sz="1275" b="0">
                <a:solidFill>
                  <a:srgbClr val="506570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285A6-D921-4CD3-9DDC-E3A5F9A0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9A511F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9A511F"/>
                </a:solidFill>
              </a:defRPr>
            </a:pPr>
            <a:r>
              <a:rPr sz="2250" b="1">
                <a:solidFill>
                  <a:srgbClr val="9A511F"/>
                </a:solidFill>
              </a:rPr>
              <a:t>Test grubu yeniden kullanıldı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57B40-1B64-46CC-987D-E9B35D19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2F42"/>
                </a:solidFill>
              </a:defRPr>
            </a:pPr>
            <a:r>
              <a:rPr sz="1950" b="0">
                <a:solidFill>
                  <a:srgbClr val="162F42"/>
                </a:solidFill>
              </a:rPr>
              <a:t>Karşılaştırma mevcut test grubunda. Bağımsız dış doğrulama yok.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71FF0-D527-4A6C-9F3D-0A224A1F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9A511F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9A511F"/>
                </a:solidFill>
              </a:defRPr>
            </a:pPr>
            <a:r>
              <a:rPr sz="2250" b="1">
                <a:solidFill>
                  <a:srgbClr val="9A511F"/>
                </a:solidFill>
              </a:rPr>
              <a:t>Referans atım konumları kullanıldı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C5B98-F57E-4316-A82B-05CDC154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2F42"/>
                </a:solidFill>
              </a:defRPr>
            </a:pPr>
            <a:r>
              <a:rPr sz="1950" b="0">
                <a:solidFill>
                  <a:srgbClr val="162F42"/>
                </a:solidFill>
              </a:rPr>
              <a:t>Otomatik R-tepe bulma başarısı bu deneyde ölçülmüyor.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09FAE-549E-4747-AC26-04508860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9A511F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9A511F"/>
                </a:solidFill>
              </a:defRPr>
            </a:pPr>
            <a:r>
              <a:rPr sz="2250" b="1">
                <a:solidFill>
                  <a:srgbClr val="9A511F"/>
                </a:solidFill>
              </a:rPr>
              <a:t>Sonraki atım bilgisi gerekiyor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D3C311-F77F-4A5D-BC4D-A26CF64F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2F42"/>
                </a:solidFill>
              </a:defRPr>
            </a:pPr>
            <a:r>
              <a:rPr sz="1950" b="0">
                <a:solidFill>
                  <a:srgbClr val="162F42"/>
                </a:solidFill>
              </a:rPr>
              <a:t>RR özellikleri nedeniyle yöntem çevrimdışı çalışıyor.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51B90-6099-45E8-9573-362BEB7B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9A511F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9A511F"/>
                </a:solidFill>
              </a:defRPr>
            </a:pPr>
            <a:r>
              <a:rPr sz="2250" b="1">
                <a:solidFill>
                  <a:srgbClr val="9A511F"/>
                </a:solidFill>
              </a:rPr>
              <a:t>Azınlık sınıfları ve kayıt farkları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4A530-220F-4F5E-AD47-EE9EBC0A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2F42"/>
                </a:solidFill>
              </a:defRPr>
            </a:pPr>
            <a:r>
              <a:rPr sz="1950" b="0">
                <a:solidFill>
                  <a:srgbClr val="162F42"/>
                </a:solidFill>
              </a:rPr>
              <a:t>F için yalnızca 16 test atımı var. Pacing kayıtları dahil, kanallar farklı.</a:t>
            </a:r>
          </a:p>
        </p:txBody>
      </p:sp>
    </p:spTree>
    <p:extLst>
      <p:ext uri="{BB962C8B-B14F-4D97-AF65-F5344CB8AC3E}">
        <p14:creationId xmlns:p14="http://schemas.microsoft.com/office/powerpoint/2010/main" val="826787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FC1A0-E5E6-4F04-ABFF-7E566080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F42"/>
                </a:solidFill>
              </a:defRPr>
            </a:pPr>
            <a:r>
              <a:rPr sz="3300" b="1">
                <a:solidFill>
                  <a:srgbClr val="162F42"/>
                </a:solidFill>
              </a:rPr>
              <a:t>Sonraki geliştirme planı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2EEBE-BAB0-4486-AC6B-AF1FE7C0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5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570"/>
                </a:solidFill>
              </a:defRPr>
            </a:pPr>
            <a:r>
              <a:rPr sz="1275" b="0">
                <a:solidFill>
                  <a:srgbClr val="506570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5C193-7914-459C-9209-FC56642A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87F83"/>
                </a:solidFill>
              </a:defRPr>
            </a:pPr>
            <a:r>
              <a:rPr sz="2850" b="1">
                <a:solidFill>
                  <a:srgbClr val="087F83"/>
                </a:solidFill>
              </a:rPr>
              <a:t>Öncelik: S ve F hatalarını azaltmak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E6DBE-0868-4313-A4E0-4EB2A93E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87F83"/>
                </a:solidFill>
              </a:defRPr>
            </a:pPr>
            <a:r>
              <a:rPr sz="3000" b="1">
                <a:solidFill>
                  <a:srgbClr val="087F8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B3F41-BDC9-4A1B-AB03-21B4670C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8384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62F42"/>
                </a:solidFill>
              </a:defRPr>
            </a:pPr>
            <a:r>
              <a:rPr sz="2250" b="0">
                <a:solidFill>
                  <a:srgbClr val="162F42"/>
                </a:solidFill>
              </a:rPr>
              <a:t>Sınıf ve hasta bazında yanlış tahminleri incelemek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A8D60-A449-41EC-95C9-C0EE0D5C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87F83"/>
                </a:solidFill>
              </a:defRPr>
            </a:pPr>
            <a:r>
              <a:rPr sz="3000" b="1">
                <a:solidFill>
                  <a:srgbClr val="087F83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87385-E1DF-42A6-B353-418A4FD9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62F42"/>
                </a:solidFill>
              </a:defRPr>
            </a:pPr>
            <a:r>
              <a:rPr sz="2250" b="0">
                <a:solidFill>
                  <a:srgbClr val="162F42"/>
                </a:solidFill>
              </a:rPr>
              <a:t>R-tepe tespitini eklemek, yalnız geçmiş RR ile modeli denemek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7DBE0-B408-4C8C-9ED8-EFD1BA7C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87F83"/>
                </a:solidFill>
              </a:defRPr>
            </a:pPr>
            <a:r>
              <a:rPr sz="3000" b="1">
                <a:solidFill>
                  <a:srgbClr val="087F83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821A6-F0A5-45C3-89C6-2D1FC9DB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482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62F42"/>
                </a:solidFill>
              </a:defRPr>
            </a:pPr>
            <a:r>
              <a:rPr sz="2250" b="0">
                <a:solidFill>
                  <a:srgbClr val="162F42"/>
                </a:solidFill>
              </a:rPr>
              <a:t>Kişi bazlı daha kapsamlı doğrulama ve bağımsız veri testi</a:t>
            </a:r>
          </a:p>
        </p:txBody>
      </p:sp>
    </p:spTree>
    <p:extLst>
      <p:ext uri="{BB962C8B-B14F-4D97-AF65-F5344CB8AC3E}">
        <p14:creationId xmlns:p14="http://schemas.microsoft.com/office/powerpoint/2010/main" val="18874283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0B8E2-5DAF-493B-BD16-6891FB25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F42"/>
                </a:solidFill>
              </a:defRPr>
            </a:pPr>
            <a:r>
              <a:rPr sz="3300" b="1">
                <a:solidFill>
                  <a:srgbClr val="162F42"/>
                </a:solidFill>
              </a:rPr>
              <a:t>Kaynaklar ve proje çıktıları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48048-55AE-413B-9576-4688A2D6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5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570"/>
                </a:solidFill>
              </a:defRPr>
            </a:pPr>
            <a:r>
              <a:rPr sz="1275" b="0">
                <a:solidFill>
                  <a:srgbClr val="506570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D91B0-264C-4890-AA87-9465AC56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3"/>
                </a:solidFill>
              </a:defRPr>
            </a:pPr>
            <a:r>
              <a:rPr sz="2175" b="1">
                <a:solidFill>
                  <a:srgbClr val="087F83"/>
                </a:solidFill>
              </a:rPr>
              <a:t>Açık veri kaynağı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92D22-BFA6-4CEA-922B-4AF6FD53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F42"/>
                </a:solidFill>
              </a:defRPr>
            </a:pPr>
            <a:r>
              <a:rPr sz="1875" b="0">
                <a:solidFill>
                  <a:srgbClr val="162F42"/>
                </a:solidFill>
              </a:rPr>
              <a:t>Moody ve Mark. MIT-BIH Arrhythmia Database, v1.0.0.</a:t>
            </a:r>
          </a:p>
          <a:p xmlns:a="http://schemas.openxmlformats.org/drawingml/2006/main">
            <a:pPr>
              <a:defRPr sz="1875" b="0">
                <a:solidFill>
                  <a:srgbClr val="162F42"/>
                </a:solidFill>
              </a:defRPr>
            </a:pPr>
            <a:r>
              <a:rPr sz="1875" b="0">
                <a:solidFill>
                  <a:srgbClr val="162F42"/>
                </a:solidFill>
              </a:rPr>
              <a:t>https://physionet.org/content/mitdb/1.0.0/</a:t>
            </a:r>
          </a:p>
          <a:p xmlns:a="http://schemas.openxmlformats.org/drawingml/2006/main">
            <a:pPr>
              <a:defRPr sz="1875" b="0">
                <a:solidFill>
                  <a:srgbClr val="162F42"/>
                </a:solidFill>
              </a:defRPr>
            </a:pPr>
            <a:r>
              <a:rPr sz="1875" b="0">
                <a:solidFill>
                  <a:srgbClr val="162F42"/>
                </a:solidFill>
              </a:rPr>
              <a:t>DOI: 10.13026/C2F305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11E2C-B457-4DB8-AB8D-5A1B59B8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3"/>
                </a:solidFill>
              </a:defRPr>
            </a:pPr>
            <a:r>
              <a:rPr sz="2175" b="1">
                <a:solidFill>
                  <a:srgbClr val="087F83"/>
                </a:solidFill>
              </a:rPr>
              <a:t>Özgün yayın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CB740-2FE8-4F04-B492-3DEE39F5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85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2F42"/>
                </a:solidFill>
              </a:defRPr>
            </a:pPr>
            <a:r>
              <a:rPr sz="1800" b="0">
                <a:solidFill>
                  <a:srgbClr val="162F42"/>
                </a:solidFill>
              </a:rPr>
              <a:t>Moody ve Mark (2001). The impact of the MIT-BIH Arrhythmia Database.</a:t>
            </a:r>
          </a:p>
          <a:p xmlns:a="http://schemas.openxmlformats.org/drawingml/2006/main">
            <a:pPr>
              <a:defRPr sz="1800" b="0">
                <a:solidFill>
                  <a:srgbClr val="162F42"/>
                </a:solidFill>
              </a:defRPr>
            </a:pPr>
            <a:r>
              <a:rPr sz="1800" b="0">
                <a:solidFill>
                  <a:srgbClr val="162F42"/>
                </a:solidFill>
              </a:rPr>
              <a:t>IEEE Engineering in Medicine and Biology Magazine, 20(3), 45–50.</a:t>
            </a:r>
          </a:p>
          <a:p xmlns:a="http://schemas.openxmlformats.org/drawingml/2006/main">
            <a:pPr>
              <a:defRPr sz="1800" b="0">
                <a:solidFill>
                  <a:srgbClr val="162F42"/>
                </a:solidFill>
              </a:defRPr>
            </a:pPr>
            <a:r>
              <a:rPr sz="1800" b="0">
                <a:solidFill>
                  <a:srgbClr val="162F42"/>
                </a:solidFill>
              </a:rPr>
              <a:t>https://doi.org/10.1109/51.932724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0B51D-A7FB-4C48-9CFE-4DD7376B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3"/>
                </a:solidFill>
              </a:defRPr>
            </a:pPr>
            <a:r>
              <a:rPr sz="2175" b="1">
                <a:solidFill>
                  <a:srgbClr val="087F83"/>
                </a:solidFill>
              </a:rPr>
              <a:t>Proje kanıtları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DFB08-FE2C-4749-9645-170033E5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2F42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2F42"/>
                </a:solidFill>
              </a:defRPr>
            </a:pPr>
            <a:r>
              <a:rPr sz="1725" b="0">
                <a:solidFill>
                  <a:srgbClr val="162F42"/>
                </a:solidFill>
              </a:rPr>
              <a:t>comparison_improved.json, results_improved.md ve sekiz aşamalı Python kodu</a:t>
            </a:r>
          </a:p>
        </p:txBody>
      </p:sp>
    </p:spTree>
    <p:extLst>
      <p:ext uri="{BB962C8B-B14F-4D97-AF65-F5344CB8AC3E}">
        <p14:creationId xmlns:p14="http://schemas.microsoft.com/office/powerpoint/2010/main" val="20581250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2026-10-14T08:38:27.1670000Z</dcterms:created>
  <dcterms:modified xsi:type="dcterms:W3CDTF">2026-10-14T08:38:27.1680000Z</dcterms:modified>
</coreProperties>
</file>